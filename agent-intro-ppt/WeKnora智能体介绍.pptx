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开场:今天用 30 分钟讲清楚智能体是什么、能为企业做什么、怎么集成进来。所有能力均以 WeKnora 平台为例。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五个部分,先建立认知,再看能力与收益,最后落到怎么接入和平台架构。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四大构件公式是全片主线;底部对比一句话点出与聊天机器人的本质差异。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是智能体的子能力;WeKnora 把两种模式都开放,简单问题不浪费算力,复杂任务才动用智能体。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左:RAG 管道,快而稳;右:ReAct 循环 think-analyze-act-observe,是智能体的心脏。WeKnora 一键切换。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六大能力族覆盖企业 90% 场景;工具白名单在智能体配置里逐项开关。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四类角色对应四类买点:员工服务、经营分析、知识运营、流程自动化。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四层收益对应四类决策人:CIO 看可控,COO 看效率,CKO 看知识资产,CMO 看触达。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接入形态按受众选:员工走 IM,客户走挂件,系统走 API,生态走 MCP。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五步通常一个下午可完成最小闭环:一个知识库 + 一个智能体 + 一个 IM 渠道。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企业最大顾虑是安全:四级角色+成员级智能体访问+工具级审批+全链路审计,是 WeKnora 的企业级答案。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自上而下四层;高亮的能力层「MCP 工具中台」是下一页的主角;右侧治理贯穿全链路。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双向是关键:既消费工具,也供给能力。WeKnora 的知识能力可以被任何 MCP 客户端复用。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中台价值:工具接入一次、认证凭据平台托管、审批策略统一,业务空间零成本复用。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收尾:回到数字员工定位;建议从一个小场景(如 IT Helpdesk)开始试点,两周内可验证价值。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9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8275320" y="868680"/>
            <a:ext cx="1005840" cy="320040"/>
          </a:xfrm>
          <a:prstGeom prst="line">
            <a:avLst/>
          </a:prstGeom>
          <a:noFill/>
          <a:ln w="12700">
            <a:solidFill>
              <a:srgbClr val="1D6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868680"/>
            <a:ext cx="1097280" cy="548640"/>
          </a:xfrm>
          <a:prstGeom prst="line">
            <a:avLst/>
          </a:prstGeom>
          <a:noFill/>
          <a:ln w="12700">
            <a:solidFill>
              <a:srgbClr val="1D6B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829800" y="1417320"/>
            <a:ext cx="548640" cy="914400"/>
          </a:xfrm>
          <a:prstGeom prst="line">
            <a:avLst/>
          </a:prstGeom>
          <a:noFill/>
          <a:ln w="12700">
            <a:solidFill>
              <a:srgbClr val="1D6B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8549640" y="2331720"/>
            <a:ext cx="1280160" cy="365760"/>
          </a:xfrm>
          <a:prstGeom prst="line">
            <a:avLst/>
          </a:prstGeom>
          <a:noFill/>
          <a:ln w="12700">
            <a:solidFill>
              <a:srgbClr val="1D6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29800" y="2331720"/>
            <a:ext cx="1280160" cy="365760"/>
          </a:xfrm>
          <a:prstGeom prst="line">
            <a:avLst/>
          </a:prstGeom>
          <a:noFill/>
          <a:ln w="12700">
            <a:solidFill>
              <a:srgbClr val="1D6B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0835640" y="2697480"/>
            <a:ext cx="274320" cy="1097280"/>
          </a:xfrm>
          <a:prstGeom prst="line">
            <a:avLst/>
          </a:prstGeom>
          <a:noFill/>
          <a:ln w="12700">
            <a:solidFill>
              <a:srgbClr val="1D6B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9098280" y="3794760"/>
            <a:ext cx="1737360" cy="182880"/>
          </a:xfrm>
          <a:prstGeom prst="line">
            <a:avLst/>
          </a:prstGeom>
          <a:noFill/>
          <a:ln w="12700">
            <a:solidFill>
              <a:srgbClr val="1D6B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9098280" y="2331720"/>
            <a:ext cx="731520" cy="1645920"/>
          </a:xfrm>
          <a:prstGeom prst="line">
            <a:avLst/>
          </a:prstGeom>
          <a:noFill/>
          <a:ln w="12700">
            <a:solidFill>
              <a:srgbClr val="1D6B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35640" y="3794760"/>
            <a:ext cx="640080" cy="914400"/>
          </a:xfrm>
          <a:prstGeom prst="line">
            <a:avLst/>
          </a:prstGeom>
          <a:noFill/>
          <a:ln w="12700">
            <a:solidFill>
              <a:srgbClr val="1D6B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9738360" y="4709160"/>
            <a:ext cx="1737360" cy="365760"/>
          </a:xfrm>
          <a:prstGeom prst="line">
            <a:avLst/>
          </a:prstGeom>
          <a:noFill/>
          <a:ln w="12700">
            <a:solidFill>
              <a:srgbClr val="1D6B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8366760" y="5074920"/>
            <a:ext cx="1371600" cy="182880"/>
          </a:xfrm>
          <a:prstGeom prst="line">
            <a:avLst/>
          </a:prstGeom>
          <a:noFill/>
          <a:ln w="12700">
            <a:solidFill>
              <a:srgbClr val="1D6B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38360" y="5074920"/>
            <a:ext cx="640080" cy="822960"/>
          </a:xfrm>
          <a:prstGeom prst="line">
            <a:avLst/>
          </a:prstGeom>
          <a:noFill/>
          <a:ln w="12700">
            <a:solidFill>
              <a:srgbClr val="1D6B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18120" y="3794760"/>
            <a:ext cx="1280160" cy="182880"/>
          </a:xfrm>
          <a:prstGeom prst="line">
            <a:avLst/>
          </a:prstGeom>
          <a:noFill/>
          <a:ln w="12700">
            <a:solidFill>
              <a:srgbClr val="1D6B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7818120" y="2697480"/>
            <a:ext cx="731520" cy="1097280"/>
          </a:xfrm>
          <a:prstGeom prst="line">
            <a:avLst/>
          </a:prstGeom>
          <a:noFill/>
          <a:ln w="12700">
            <a:solidFill>
              <a:srgbClr val="1D6B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1188720"/>
            <a:ext cx="274320" cy="1508760"/>
          </a:xfrm>
          <a:prstGeom prst="line">
            <a:avLst/>
          </a:prstGeom>
          <a:noFill/>
          <a:ln w="12700">
            <a:solidFill>
              <a:srgbClr val="1D6B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4736" y="1088136"/>
            <a:ext cx="201168" cy="201168"/>
          </a:xfrm>
          <a:prstGeom prst="ellipse">
            <a:avLst/>
          </a:prstGeom>
          <a:solidFill>
            <a:srgbClr val="1FBF8F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134856" y="722376"/>
            <a:ext cx="292608" cy="292608"/>
          </a:xfrm>
          <a:prstGeom prst="ellipse">
            <a:avLst/>
          </a:prstGeom>
          <a:solidFill>
            <a:srgbClr val="1FBF8F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296144" y="1335024"/>
            <a:ext cx="164592" cy="164592"/>
          </a:xfrm>
          <a:prstGeom prst="ellipse">
            <a:avLst/>
          </a:prstGeom>
          <a:solidFill>
            <a:srgbClr val="1FBF8F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628632" y="2130552"/>
            <a:ext cx="402336" cy="402336"/>
          </a:xfrm>
          <a:prstGeom prst="ellipse">
            <a:avLst/>
          </a:prstGeom>
          <a:solidFill>
            <a:srgbClr val="1FBF8F"/>
          </a:solidFill>
          <a:ln/>
        </p:spPr>
      </p:sp>
      <p:sp>
        <p:nvSpPr>
          <p:cNvPr id="21" name="Shape 19"/>
          <p:cNvSpPr/>
          <p:nvPr/>
        </p:nvSpPr>
        <p:spPr>
          <a:xfrm>
            <a:off x="9482328" y="1984248"/>
            <a:ext cx="694944" cy="694944"/>
          </a:xfrm>
          <a:prstGeom prst="ellipse">
            <a:avLst/>
          </a:prstGeom>
          <a:solidFill>
            <a:srgbClr val="0B2924"/>
          </a:solidFill>
          <a:ln w="15875">
            <a:solidFill>
              <a:srgbClr val="1FBF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39912" y="2587752"/>
            <a:ext cx="219456" cy="219456"/>
          </a:xfrm>
          <a:prstGeom prst="ellipse">
            <a:avLst/>
          </a:prstGeom>
          <a:solidFill>
            <a:srgbClr val="1FBF8F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000232" y="2587752"/>
            <a:ext cx="219456" cy="219456"/>
          </a:xfrm>
          <a:prstGeom prst="ellipse">
            <a:avLst/>
          </a:prstGeom>
          <a:solidFill>
            <a:srgbClr val="1FBF8F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689336" y="3648456"/>
            <a:ext cx="292608" cy="292608"/>
          </a:xfrm>
          <a:prstGeom prst="ellipse">
            <a:avLst/>
          </a:prstGeom>
          <a:solidFill>
            <a:srgbClr val="1FBF8F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006840" y="3886200"/>
            <a:ext cx="182880" cy="182880"/>
          </a:xfrm>
          <a:prstGeom prst="ellipse">
            <a:avLst/>
          </a:prstGeom>
          <a:solidFill>
            <a:srgbClr val="1FBF8F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375136" y="4608576"/>
            <a:ext cx="201168" cy="201168"/>
          </a:xfrm>
          <a:prstGeom prst="ellipse">
            <a:avLst/>
          </a:prstGeom>
          <a:solidFill>
            <a:srgbClr val="1FBF8F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601200" y="4937760"/>
            <a:ext cx="274320" cy="274320"/>
          </a:xfrm>
          <a:prstGeom prst="ellipse">
            <a:avLst/>
          </a:prstGeom>
          <a:solidFill>
            <a:srgbClr val="1FBF8F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284464" y="5175504"/>
            <a:ext cx="164592" cy="164592"/>
          </a:xfrm>
          <a:prstGeom prst="ellipse">
            <a:avLst/>
          </a:prstGeom>
          <a:solidFill>
            <a:srgbClr val="1FBF8F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268712" y="5788152"/>
            <a:ext cx="219456" cy="219456"/>
          </a:xfrm>
          <a:prstGeom prst="ellipse">
            <a:avLst/>
          </a:prstGeom>
          <a:solidFill>
            <a:srgbClr val="1FBF8F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744968" y="3721608"/>
            <a:ext cx="146304" cy="146304"/>
          </a:xfrm>
          <a:prstGeom prst="ellipse">
            <a:avLst/>
          </a:prstGeom>
          <a:solidFill>
            <a:srgbClr val="1FBF8F">
              <a:alpha val="4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FBF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WeKnora · 腾讯开源企业级知识管理与智能体平台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" y="16916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</a:t>
            </a:r>
            <a:endParaRPr lang="en-US" sz="7600" dirty="0"/>
          </a:p>
        </p:txBody>
      </p:sp>
      <p:sp>
        <p:nvSpPr>
          <p:cNvPr id="33" name="Text 31"/>
          <p:cNvSpPr/>
          <p:nvPr/>
        </p:nvSpPr>
        <p:spPr>
          <a:xfrm>
            <a:off x="73152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FBF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I   A G E N 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" y="370332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3F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大模型驱动的「数字员工」：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3F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自主规划 · 调用工具 · 完成企业里的真实任务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731520" y="5120640"/>
            <a:ext cx="858520" cy="457200"/>
          </a:xfrm>
          <a:prstGeom prst="roundRect">
            <a:avLst>
              <a:gd name="adj" fmla="val 14000"/>
            </a:avLst>
          </a:prstGeom>
          <a:solidFill>
            <a:srgbClr val="123B31"/>
          </a:solidFill>
          <a:ln w="12700">
            <a:solidFill>
              <a:srgbClr val="2E7A6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120640"/>
            <a:ext cx="85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F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自主规划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791208" y="5120640"/>
            <a:ext cx="858520" cy="457200"/>
          </a:xfrm>
          <a:prstGeom prst="roundRect">
            <a:avLst>
              <a:gd name="adj" fmla="val 14000"/>
            </a:avLst>
          </a:prstGeom>
          <a:solidFill>
            <a:srgbClr val="123B31"/>
          </a:solidFill>
          <a:ln w="12700">
            <a:solidFill>
              <a:srgbClr val="2E7A6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91208" y="5120640"/>
            <a:ext cx="85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F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工具执行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850896" y="5120640"/>
            <a:ext cx="858520" cy="457200"/>
          </a:xfrm>
          <a:prstGeom prst="roundRect">
            <a:avLst>
              <a:gd name="adj" fmla="val 14000"/>
            </a:avLst>
          </a:prstGeom>
          <a:solidFill>
            <a:srgbClr val="123B31"/>
          </a:solidFill>
          <a:ln w="12700">
            <a:solidFill>
              <a:srgbClr val="2E7A6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50896" y="5120640"/>
            <a:ext cx="85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F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知识检索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910584" y="5120640"/>
            <a:ext cx="893572" cy="457200"/>
          </a:xfrm>
          <a:prstGeom prst="roundRect">
            <a:avLst>
              <a:gd name="adj" fmla="val 14000"/>
            </a:avLst>
          </a:prstGeom>
          <a:solidFill>
            <a:srgbClr val="123B31"/>
          </a:solidFill>
          <a:ln w="12700">
            <a:solidFill>
              <a:srgbClr val="2E7A6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10584" y="5120640"/>
            <a:ext cx="893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F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 连接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企业智能体专题分享 · 2026 年 9 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本次分享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60934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417320" y="157276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什么是智能体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417320" y="193852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 · 四大构件 · 从聊天机器人到智能体的演进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17320" y="2359152"/>
            <a:ext cx="6035040" cy="0"/>
          </a:xfrm>
          <a:prstGeom prst="line">
            <a:avLst/>
          </a:prstGeom>
          <a:noFill/>
          <a:ln w="9525">
            <a:solidFill>
              <a:srgbClr val="DFE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146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417320" y="247802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智能体能做什么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417320" y="284378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双引擎模式 · 30+ 内置工具 · 企业典型场景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17320" y="3264408"/>
            <a:ext cx="6035040" cy="0"/>
          </a:xfrm>
          <a:prstGeom prst="line">
            <a:avLst/>
          </a:prstGeom>
          <a:noFill/>
          <a:ln w="9525">
            <a:solidFill>
              <a:srgbClr val="DFE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41985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1417320" y="33832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企业收益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417320" y="374904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效率 · 知识资产 · 全渠道触达 · 自主可控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417320" y="4169664"/>
            <a:ext cx="6035040" cy="0"/>
          </a:xfrm>
          <a:prstGeom prst="line">
            <a:avLst/>
          </a:prstGeom>
          <a:noFill/>
          <a:ln w="9525">
            <a:solidFill>
              <a:srgbClr val="DFEA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32511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417320" y="428853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企业如何集成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417320" y="465429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四条接入路径 · 五步上线 · 安全与治理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417320" y="5074920"/>
            <a:ext cx="6035040" cy="0"/>
          </a:xfrm>
          <a:prstGeom prst="line">
            <a:avLst/>
          </a:prstGeom>
          <a:noFill/>
          <a:ln w="9525">
            <a:solidFill>
              <a:srgbClr val="DFE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23036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1417320" y="51937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关系图与 MCP 中台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417320" y="555955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平台分层架构 · 双向 MCP · 工具中台模式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63840" y="1572768"/>
            <a:ext cx="3822192" cy="4526280"/>
          </a:xfrm>
          <a:prstGeom prst="roundRect">
            <a:avLst>
              <a:gd name="adj" fmla="val 2153"/>
            </a:avLst>
          </a:prstGeom>
          <a:solidFill>
            <a:srgbClr val="EAF4EF"/>
          </a:solidFill>
          <a:ln/>
        </p:spPr>
      </p:sp>
      <p:sp>
        <p:nvSpPr>
          <p:cNvPr id="25" name="Text 23"/>
          <p:cNvSpPr/>
          <p:nvPr/>
        </p:nvSpPr>
        <p:spPr>
          <a:xfrm>
            <a:off x="818388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一句话预告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183880" y="233172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大模型 × 记忆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 工具 × 规划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8183880" y="42062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它不是「回答一段话」，而是「完成一件事」——给一个目标，还一个结果。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183880" y="5623560"/>
            <a:ext cx="91440" cy="91440"/>
          </a:xfrm>
          <a:prstGeom prst="ellipse">
            <a:avLst/>
          </a:prstGeom>
          <a:solidFill>
            <a:srgbClr val="1FBF8F"/>
          </a:solidFill>
          <a:ln/>
        </p:spPr>
      </p:sp>
      <p:sp>
        <p:nvSpPr>
          <p:cNvPr id="29" name="Shape 27"/>
          <p:cNvSpPr/>
          <p:nvPr/>
        </p:nvSpPr>
        <p:spPr>
          <a:xfrm>
            <a:off x="8458200" y="5623560"/>
            <a:ext cx="91440" cy="91440"/>
          </a:xfrm>
          <a:prstGeom prst="ellipse">
            <a:avLst/>
          </a:prstGeom>
          <a:solidFill>
            <a:srgbClr val="1FBF8F"/>
          </a:solidFill>
          <a:ln/>
        </p:spPr>
      </p:sp>
      <p:sp>
        <p:nvSpPr>
          <p:cNvPr id="30" name="Shape 28"/>
          <p:cNvSpPr/>
          <p:nvPr/>
        </p:nvSpPr>
        <p:spPr>
          <a:xfrm>
            <a:off x="8732520" y="5623560"/>
            <a:ext cx="91440" cy="91440"/>
          </a:xfrm>
          <a:prstGeom prst="ellipse">
            <a:avLst/>
          </a:prstGeom>
          <a:solidFill>
            <a:srgbClr val="1FBF8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认识智能体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什么是智能体（AI Agent）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35331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以大模型为「大脑」，能够自主感知、规划并调用工具完成多步任务的 AI 系统。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它不是一问一答，而是「给一个目标，还一个结果」。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395728"/>
            <a:ext cx="1993392" cy="2286000"/>
          </a:xfrm>
          <a:prstGeom prst="roundRect">
            <a:avLst>
              <a:gd name="adj" fmla="val 3211"/>
            </a:avLst>
          </a:prstGeom>
          <a:solidFill>
            <a:srgbClr val="F5FAF8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2651760"/>
            <a:ext cx="100584" cy="100584"/>
          </a:xfrm>
          <a:prstGeom prst="ellipse">
            <a:avLst/>
          </a:prstGeom>
          <a:solidFill>
            <a:srgbClr val="0E7A5A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285292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大脑 · LLM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4088" y="32918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理解与推理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生成与反思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20+ 模型可插拔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14600" y="3264408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880360" y="2395728"/>
            <a:ext cx="1993392" cy="2286000"/>
          </a:xfrm>
          <a:prstGeom prst="roundRect">
            <a:avLst>
              <a:gd name="adj" fmla="val 3211"/>
            </a:avLst>
          </a:prstGeom>
          <a:solidFill>
            <a:srgbClr val="F5FAF8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81528" y="2651760"/>
            <a:ext cx="100584" cy="100584"/>
          </a:xfrm>
          <a:prstGeom prst="ellipse">
            <a:avLst/>
          </a:prstGeom>
          <a:solidFill>
            <a:srgbClr val="0E7A5A"/>
          </a:solidFill>
          <a:ln/>
        </p:spPr>
      </p:sp>
      <p:sp>
        <p:nvSpPr>
          <p:cNvPr id="14" name="Text 12"/>
          <p:cNvSpPr/>
          <p:nvPr/>
        </p:nvSpPr>
        <p:spPr>
          <a:xfrm>
            <a:off x="3081528" y="285292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记忆 · Memory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81528" y="32918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对话上下文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五类长期记忆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跨会话记住偏好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92040" y="3264408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257800" y="2395728"/>
            <a:ext cx="1993392" cy="2286000"/>
          </a:xfrm>
          <a:prstGeom prst="roundRect">
            <a:avLst>
              <a:gd name="adj" fmla="val 3211"/>
            </a:avLst>
          </a:prstGeom>
          <a:solidFill>
            <a:srgbClr val="F5FAF8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58968" y="2651760"/>
            <a:ext cx="100584" cy="100584"/>
          </a:xfrm>
          <a:prstGeom prst="ellipse">
            <a:avLst/>
          </a:prstGeom>
          <a:solidFill>
            <a:srgbClr val="0E7A5A"/>
          </a:solidFill>
          <a:ln/>
        </p:spPr>
      </p:sp>
      <p:sp>
        <p:nvSpPr>
          <p:cNvPr id="19" name="Text 17"/>
          <p:cNvSpPr/>
          <p:nvPr/>
        </p:nvSpPr>
        <p:spPr>
          <a:xfrm>
            <a:off x="5458968" y="285292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 · Tools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58968" y="32918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知识检索 · SQL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代码沙箱 · MCP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与世界交互的双手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269480" y="3264408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635240" y="2395728"/>
            <a:ext cx="1993392" cy="2286000"/>
          </a:xfrm>
          <a:prstGeom prst="roundRect">
            <a:avLst>
              <a:gd name="adj" fmla="val 3211"/>
            </a:avLst>
          </a:prstGeom>
          <a:solidFill>
            <a:srgbClr val="F5FAF8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36408" y="2651760"/>
            <a:ext cx="100584" cy="100584"/>
          </a:xfrm>
          <a:prstGeom prst="ellipse">
            <a:avLst/>
          </a:prstGeom>
          <a:solidFill>
            <a:srgbClr val="0E7A5A"/>
          </a:solidFill>
          <a:ln/>
        </p:spPr>
      </p:sp>
      <p:sp>
        <p:nvSpPr>
          <p:cNvPr id="24" name="Text 22"/>
          <p:cNvSpPr/>
          <p:nvPr/>
        </p:nvSpPr>
        <p:spPr>
          <a:xfrm>
            <a:off x="7836408" y="285292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规划 · Planning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836408" y="32918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任务分解 todo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序列思考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自我修正 · 重试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646920" y="326440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0012680" y="2395728"/>
            <a:ext cx="1664208" cy="2286000"/>
          </a:xfrm>
          <a:prstGeom prst="roundRect">
            <a:avLst>
              <a:gd name="adj" fmla="val 3846"/>
            </a:avLst>
          </a:prstGeom>
          <a:solidFill>
            <a:srgbClr val="0B2924"/>
          </a:solidFill>
          <a:ln/>
        </p:spPr>
      </p:sp>
      <p:sp>
        <p:nvSpPr>
          <p:cNvPr id="28" name="Text 26"/>
          <p:cNvSpPr/>
          <p:nvPr/>
        </p:nvSpPr>
        <p:spPr>
          <a:xfrm>
            <a:off x="10104120" y="2898648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</a:t>
            </a:r>
            <a:endParaRPr lang="en-US" sz="1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AGENT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10104120" y="395020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BF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给目标 · 还结果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28800" y="5138928"/>
            <a:ext cx="3108960" cy="566928"/>
          </a:xfrm>
          <a:prstGeom prst="roundRect">
            <a:avLst>
              <a:gd name="adj" fmla="val 11290"/>
            </a:avLst>
          </a:prstGeom>
          <a:solidFill>
            <a:srgbClr val="F5FAF8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0" y="51389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聊天机器人 · 回答一段话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29200" y="5422392"/>
            <a:ext cx="548640" cy="0"/>
          </a:xfrm>
          <a:prstGeom prst="line">
            <a:avLst/>
          </a:prstGeom>
          <a:noFill/>
          <a:ln w="22225">
            <a:solidFill>
              <a:srgbClr val="0E7A5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669280" y="5138928"/>
            <a:ext cx="3108960" cy="566928"/>
          </a:xfrm>
          <a:prstGeom prst="roundRect">
            <a:avLst>
              <a:gd name="adj" fmla="val 11290"/>
            </a:avLst>
          </a:prstGeom>
          <a:solidFill>
            <a:srgbClr val="0E7A5A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0" y="51389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 · 完成一件事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59893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智能体会自己查资料、写代码、调系统、核对结果，再交付答案。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认识智能体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企业问答的三代演进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5FAF8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第一代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2996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规则问答机器人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560320"/>
            <a:ext cx="2971800" cy="0"/>
          </a:xfrm>
          <a:prstGeom prst="line">
            <a:avLst/>
          </a:prstGeom>
          <a:noFill/>
          <a:ln w="9525">
            <a:solidFill>
              <a:srgbClr val="DFE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79776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关键词匹配 · 流程树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固定话术应答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44074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局限：换个问法就失灵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041648" y="3287268"/>
            <a:ext cx="219456" cy="0"/>
          </a:xfrm>
          <a:prstGeom prst="line">
            <a:avLst/>
          </a:prstGeom>
          <a:noFill/>
          <a:ln w="22225">
            <a:solidFill>
              <a:srgbClr val="0E7A5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88536" y="1481328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5FAF8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2856" y="1737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第二代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62856" y="202996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检索增强 RAG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62856" y="2560320"/>
            <a:ext cx="2971800" cy="0"/>
          </a:xfrm>
          <a:prstGeom prst="line">
            <a:avLst/>
          </a:prstGeom>
          <a:noFill/>
          <a:ln w="9525">
            <a:solidFill>
              <a:srgbClr val="DFE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2856" y="2779776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 + 知识库检索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回答有出处、可溯源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62856" y="44074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局限：只能「回答」，不能「动手」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27264" y="3287268"/>
            <a:ext cx="219456" cy="0"/>
          </a:xfrm>
          <a:prstGeom prst="line">
            <a:avLst/>
          </a:prstGeom>
          <a:noFill/>
          <a:ln w="22225">
            <a:solidFill>
              <a:srgbClr val="0E7A5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74152" y="1481328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0E7A5A"/>
          </a:solidFill>
          <a:ln/>
        </p:spPr>
      </p:sp>
      <p:sp>
        <p:nvSpPr>
          <p:cNvPr id="20" name="Text 18"/>
          <p:cNvSpPr/>
          <p:nvPr/>
        </p:nvSpPr>
        <p:spPr>
          <a:xfrm>
            <a:off x="8348472" y="1737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BF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第三代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48472" y="202996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自主智能体 Agent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348472" y="2560320"/>
            <a:ext cx="2971800" cy="0"/>
          </a:xfrm>
          <a:prstGeom prst="line">
            <a:avLst/>
          </a:prstGeom>
          <a:noFill/>
          <a:ln w="9525">
            <a:solidFill>
              <a:srgbClr val="2E7A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48472" y="2779776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3F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自主规划 + 工具执行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3F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反思修正 · 跨系统协作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348472" y="44074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E8D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跃迁：直接「完成任务」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0" y="5504688"/>
            <a:ext cx="12188952" cy="804672"/>
          </a:xfrm>
          <a:prstGeom prst="rect">
            <a:avLst/>
          </a:prstGeom>
          <a:solidFill>
            <a:srgbClr val="EAF4EF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5504688"/>
            <a:ext cx="11183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跃迁点：从「回答问题」到「完成任务」—— WeKnora 同时提供两种模式，按场景自由切换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智能体能做什么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两种引擎：快速问答 与 智能推理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513832" cy="4434840"/>
          </a:xfrm>
          <a:prstGeom prst="roundRect">
            <a:avLst>
              <a:gd name="adj" fmla="val 1649"/>
            </a:avLst>
          </a:prstGeom>
          <a:solidFill>
            <a:srgbClr val="F5FAF8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642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QUICK ANSWER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快速问答（RAG 管道）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77240" y="2542032"/>
            <a:ext cx="13716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420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用户提问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76272" y="2779776"/>
            <a:ext cx="219456" cy="0"/>
          </a:xfrm>
          <a:prstGeom prst="line">
            <a:avLst/>
          </a:prstGeom>
          <a:noFill/>
          <a:ln w="22225">
            <a:solidFill>
              <a:srgbClr val="0E7A5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23160" y="2542032"/>
            <a:ext cx="1481328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2542032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检索 + 重排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931920" y="2779776"/>
            <a:ext cx="219456" cy="0"/>
          </a:xfrm>
          <a:prstGeom prst="line">
            <a:avLst/>
          </a:prstGeom>
          <a:noFill/>
          <a:ln w="22225">
            <a:solidFill>
              <a:srgbClr val="0E7A5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78808" y="2542032"/>
            <a:ext cx="17830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78808" y="254203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生成带引用回答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" y="3575304"/>
            <a:ext cx="82296" cy="82296"/>
          </a:xfrm>
          <a:prstGeom prst="ellipse">
            <a:avLst/>
          </a:prstGeom>
          <a:solidFill>
            <a:srgbClr val="0E7A5A"/>
          </a:solidFill>
          <a:ln/>
        </p:spPr>
      </p:sp>
      <p:sp>
        <p:nvSpPr>
          <p:cNvPr id="17" name="Text 15"/>
          <p:cNvSpPr/>
          <p:nvPr/>
        </p:nvSpPr>
        <p:spPr>
          <a:xfrm>
            <a:off x="1024128" y="3520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秒级响应，适合高频、标准化的问答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" y="4142232"/>
            <a:ext cx="82296" cy="82296"/>
          </a:xfrm>
          <a:prstGeom prst="ellipse">
            <a:avLst/>
          </a:prstGeom>
          <a:solidFill>
            <a:srgbClr val="0E7A5A"/>
          </a:solidFill>
          <a:ln/>
        </p:spPr>
      </p:sp>
      <p:sp>
        <p:nvSpPr>
          <p:cNvPr id="19" name="Text 17"/>
          <p:cNvSpPr/>
          <p:nvPr/>
        </p:nvSpPr>
        <p:spPr>
          <a:xfrm>
            <a:off x="1024128" y="40873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答案附引用，可溯源到原文档段落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4672" y="4709160"/>
            <a:ext cx="82296" cy="82296"/>
          </a:xfrm>
          <a:prstGeom prst="ellipse">
            <a:avLst/>
          </a:prstGeom>
          <a:solidFill>
            <a:srgbClr val="0E7A5A"/>
          </a:solidFill>
          <a:ln/>
        </p:spPr>
      </p:sp>
      <p:sp>
        <p:nvSpPr>
          <p:cNvPr id="21" name="Text 19"/>
          <p:cNvSpPr/>
          <p:nvPr/>
        </p:nvSpPr>
        <p:spPr>
          <a:xfrm>
            <a:off x="1024128" y="46542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智能体亦可退化为此模式承接高并发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72200" y="1417320"/>
            <a:ext cx="5513832" cy="4434840"/>
          </a:xfrm>
          <a:prstGeom prst="roundRect">
            <a:avLst>
              <a:gd name="adj" fmla="val 1649"/>
            </a:avLst>
          </a:prstGeom>
          <a:solidFill>
            <a:srgbClr val="0B2924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16642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FBF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REASONING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46520" y="19202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智能推理（ReAct 智能体）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6473952" y="2542032"/>
            <a:ext cx="914400" cy="475488"/>
          </a:xfrm>
          <a:prstGeom prst="roundRect">
            <a:avLst>
              <a:gd name="adj" fmla="val 13462"/>
            </a:avLst>
          </a:prstGeom>
          <a:solidFill>
            <a:srgbClr val="123B31"/>
          </a:solidFill>
          <a:ln w="12700">
            <a:solidFill>
              <a:srgbClr val="2E7A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254203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思考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43216" y="2779776"/>
            <a:ext cx="237744" cy="0"/>
          </a:xfrm>
          <a:prstGeom prst="line">
            <a:avLst/>
          </a:prstGeom>
          <a:noFill/>
          <a:ln w="22225">
            <a:solidFill>
              <a:srgbClr val="1FBF8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735824" y="2542032"/>
            <a:ext cx="914400" cy="475488"/>
          </a:xfrm>
          <a:prstGeom prst="roundRect">
            <a:avLst>
              <a:gd name="adj" fmla="val 13462"/>
            </a:avLst>
          </a:prstGeom>
          <a:solidFill>
            <a:srgbClr val="123B31"/>
          </a:solidFill>
          <a:ln w="12700">
            <a:solidFill>
              <a:srgbClr val="2E7A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35824" y="254203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705088" y="2779776"/>
            <a:ext cx="237744" cy="0"/>
          </a:xfrm>
          <a:prstGeom prst="line">
            <a:avLst/>
          </a:prstGeom>
          <a:noFill/>
          <a:ln w="22225">
            <a:solidFill>
              <a:srgbClr val="1FBF8F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997696" y="2542032"/>
            <a:ext cx="914400" cy="475488"/>
          </a:xfrm>
          <a:prstGeom prst="roundRect">
            <a:avLst>
              <a:gd name="adj" fmla="val 13462"/>
            </a:avLst>
          </a:prstGeom>
          <a:solidFill>
            <a:srgbClr val="123B31"/>
          </a:solidFill>
          <a:ln w="12700">
            <a:solidFill>
              <a:srgbClr val="2E7A6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97696" y="254203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行动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966960" y="2779776"/>
            <a:ext cx="237744" cy="0"/>
          </a:xfrm>
          <a:prstGeom prst="line">
            <a:avLst/>
          </a:prstGeom>
          <a:noFill/>
          <a:ln w="22225">
            <a:solidFill>
              <a:srgbClr val="1FBF8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259568" y="2542032"/>
            <a:ext cx="914400" cy="475488"/>
          </a:xfrm>
          <a:prstGeom prst="roundRect">
            <a:avLst>
              <a:gd name="adj" fmla="val 13462"/>
            </a:avLst>
          </a:prstGeom>
          <a:solidFill>
            <a:srgbClr val="123B31"/>
          </a:solidFill>
          <a:ln w="12700">
            <a:solidFill>
              <a:srgbClr val="2E7A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59568" y="254203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观察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31152" y="3310128"/>
            <a:ext cx="4114800" cy="0"/>
          </a:xfrm>
          <a:prstGeom prst="line">
            <a:avLst/>
          </a:prstGeom>
          <a:noFill/>
          <a:ln w="12700">
            <a:solidFill>
              <a:srgbClr val="1FBF8F"/>
            </a:solidFill>
            <a:prstDash val="dash"/>
            <a:headEnd type="triangle"/>
          </a:ln>
        </p:spPr>
      </p:sp>
      <p:sp>
        <p:nvSpPr>
          <p:cNvPr id="37" name="Text 35"/>
          <p:cNvSpPr/>
          <p:nvPr/>
        </p:nvSpPr>
        <p:spPr>
          <a:xfrm>
            <a:off x="6931152" y="34198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BF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循环，直到任务完成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73952" y="3968496"/>
            <a:ext cx="82296" cy="82296"/>
          </a:xfrm>
          <a:prstGeom prst="ellipse">
            <a:avLst/>
          </a:prstGeom>
          <a:solidFill>
            <a:srgbClr val="1FBF8F"/>
          </a:solidFill>
          <a:ln/>
        </p:spPr>
      </p:sp>
      <p:sp>
        <p:nvSpPr>
          <p:cNvPr id="39" name="Text 37"/>
          <p:cNvSpPr/>
          <p:nvPr/>
        </p:nvSpPr>
        <p:spPr>
          <a:xfrm>
            <a:off x="6693408" y="391363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F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默认最多 20 轮迭代（可调至 100）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473952" y="4443984"/>
            <a:ext cx="82296" cy="82296"/>
          </a:xfrm>
          <a:prstGeom prst="ellipse">
            <a:avLst/>
          </a:prstGeom>
          <a:solidFill>
            <a:srgbClr val="1FBF8F"/>
          </a:solidFill>
          <a:ln/>
        </p:spPr>
      </p:sp>
      <p:sp>
        <p:nvSpPr>
          <p:cNvPr id="41" name="Text 39"/>
          <p:cNvSpPr/>
          <p:nvPr/>
        </p:nvSpPr>
        <p:spPr>
          <a:xfrm>
            <a:off x="6693408" y="43891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F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支持一轮内并行调用多个工具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473952" y="4919472"/>
            <a:ext cx="82296" cy="82296"/>
          </a:xfrm>
          <a:prstGeom prst="ellipse">
            <a:avLst/>
          </a:prstGeom>
          <a:solidFill>
            <a:srgbClr val="1FBF8F"/>
          </a:solidFill>
          <a:ln/>
        </p:spPr>
      </p:sp>
      <p:sp>
        <p:nvSpPr>
          <p:cNvPr id="43" name="Text 41"/>
          <p:cNvSpPr/>
          <p:nvPr/>
        </p:nvSpPr>
        <p:spPr>
          <a:xfrm>
            <a:off x="6693408" y="486460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F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200K token 上下文预算，自动压缩记忆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473952" y="5394960"/>
            <a:ext cx="82296" cy="82296"/>
          </a:xfrm>
          <a:prstGeom prst="ellipse">
            <a:avLst/>
          </a:prstGeom>
          <a:solidFill>
            <a:srgbClr val="1FBF8F"/>
          </a:solidFill>
          <a:ln/>
        </p:spPr>
      </p:sp>
      <p:sp>
        <p:nvSpPr>
          <p:cNvPr id="45" name="Text 43"/>
          <p:cNvSpPr/>
          <p:nvPr/>
        </p:nvSpPr>
        <p:spPr>
          <a:xfrm>
            <a:off x="6693408" y="534009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F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结果自我核对，失败自动重试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02920" y="610819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同一知识库，两种模式按需切换 —— 高频简单问题走快速问答，复杂多步任务交给智能推理。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智能体能做什么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开箱即用：30+ 内置工具，六大能力族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30+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内置工具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292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开箱即用，智能体按需自动调用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4160520"/>
            <a:ext cx="2834640" cy="0"/>
          </a:xfrm>
          <a:prstGeom prst="line">
            <a:avLst/>
          </a:prstGeom>
          <a:noFill/>
          <a:ln w="9525">
            <a:solidFill>
              <a:srgbClr val="DFEA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4389120"/>
            <a:ext cx="82296" cy="82296"/>
          </a:xfrm>
          <a:prstGeom prst="ellipse">
            <a:avLst/>
          </a:prstGeom>
          <a:solidFill>
            <a:srgbClr val="1FBF8F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43251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家联网搜索引擎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892040"/>
            <a:ext cx="82296" cy="82296"/>
          </a:xfrm>
          <a:prstGeom prst="ellipse">
            <a:avLst/>
          </a:prstGeom>
          <a:solidFill>
            <a:srgbClr val="1FBF8F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" y="4828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类长期记忆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5394960"/>
            <a:ext cx="82296" cy="82296"/>
          </a:xfrm>
          <a:prstGeom prst="ellipse">
            <a:avLst/>
          </a:prstGeom>
          <a:solidFill>
            <a:srgbClr val="1FBF8F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" y="53309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 轮最大迭代（默认）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0" y="164592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EAF4EF"/>
          </a:solidFill>
          <a:ln/>
        </p:spPr>
      </p:sp>
      <p:sp>
        <p:nvSpPr>
          <p:cNvPr id="16" name="Text 14"/>
          <p:cNvSpPr/>
          <p:nvPr/>
        </p:nvSpPr>
        <p:spPr>
          <a:xfrm>
            <a:off x="4498848" y="15727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知识检索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172200" y="160934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语义搜索 · 正则匹配 · GraphRAG 知识图谱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0" y="2212848"/>
            <a:ext cx="7571232" cy="0"/>
          </a:xfrm>
          <a:prstGeom prst="line">
            <a:avLst/>
          </a:prstGeom>
          <a:noFill/>
          <a:ln w="9525">
            <a:solidFill>
              <a:srgbClr val="DFEA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244144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EAF4EF"/>
          </a:solidFill>
          <a:ln/>
        </p:spPr>
      </p:sp>
      <p:sp>
        <p:nvSpPr>
          <p:cNvPr id="20" name="Text 18"/>
          <p:cNvSpPr/>
          <p:nvPr/>
        </p:nvSpPr>
        <p:spPr>
          <a:xfrm>
            <a:off x="4498848" y="236829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数据分析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172200" y="240487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只读 SQL 查询，DuckDB 直接分析 CSV / Excel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0" y="3008376"/>
            <a:ext cx="7571232" cy="0"/>
          </a:xfrm>
          <a:prstGeom prst="line">
            <a:avLst/>
          </a:prstGeom>
          <a:noFill/>
          <a:ln w="9525">
            <a:solidFill>
              <a:srgbClr val="DFEA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0" y="323697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EAF4EF"/>
          </a:solidFill>
          <a:ln/>
        </p:spPr>
      </p:sp>
      <p:sp>
        <p:nvSpPr>
          <p:cNvPr id="24" name="Text 22"/>
          <p:cNvSpPr/>
          <p:nvPr/>
        </p:nvSpPr>
        <p:spPr>
          <a:xfrm>
            <a:off x="4498848" y="316382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联网搜索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172200" y="32004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家搜索引擎，安全抓取网页并自动摘要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0" y="3803904"/>
            <a:ext cx="7571232" cy="0"/>
          </a:xfrm>
          <a:prstGeom prst="line">
            <a:avLst/>
          </a:prstGeom>
          <a:noFill/>
          <a:ln w="9525">
            <a:solidFill>
              <a:srgbClr val="DFEA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0" y="403250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EAF4EF"/>
          </a:solidFill>
          <a:ln/>
        </p:spPr>
      </p:sp>
      <p:sp>
        <p:nvSpPr>
          <p:cNvPr id="28" name="Text 26"/>
          <p:cNvSpPr/>
          <p:nvPr/>
        </p:nvSpPr>
        <p:spPr>
          <a:xfrm>
            <a:off x="4498848" y="39593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代码沙箱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172200" y="399592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Docker / E2B / Cube 隔离执行，会话级环境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14800" y="4599432"/>
            <a:ext cx="7571232" cy="0"/>
          </a:xfrm>
          <a:prstGeom prst="line">
            <a:avLst/>
          </a:prstGeom>
          <a:noFill/>
          <a:ln w="9525">
            <a:solidFill>
              <a:srgbClr val="DFEA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482803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EAF4EF"/>
          </a:solidFill>
          <a:ln/>
        </p:spPr>
      </p:sp>
      <p:sp>
        <p:nvSpPr>
          <p:cNvPr id="32" name="Text 30"/>
          <p:cNvSpPr/>
          <p:nvPr/>
        </p:nvSpPr>
        <p:spPr>
          <a:xfrm>
            <a:off x="4498848" y="4754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技能系统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172200" y="479145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SKILL.md 渐进加载，可从技能市场一键安装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14800" y="5394960"/>
            <a:ext cx="7571232" cy="0"/>
          </a:xfrm>
          <a:prstGeom prst="line">
            <a:avLst/>
          </a:prstGeom>
          <a:noFill/>
          <a:ln w="9525">
            <a:solidFill>
              <a:srgbClr val="DFEA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562356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EAF4EF"/>
          </a:solidFill>
          <a:ln/>
        </p:spPr>
      </p:sp>
      <p:sp>
        <p:nvSpPr>
          <p:cNvPr id="36" name="Text 34"/>
          <p:cNvSpPr/>
          <p:nvPr/>
        </p:nvSpPr>
        <p:spPr>
          <a:xfrm>
            <a:off x="4498848" y="55504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Wiki 工程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172200" y="558698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个工具自动维护企业 Wiki 与知识图谱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智能体能做什么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企业里的四个典型智能体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2606040" cy="4069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  <a:effectLst>
            <a:outerShdw sx="100000" sy="100000" kx="0" ky="0" algn="bl" rotWithShape="0" blurRad="88900" dist="25400" dir="5400000">
              <a:srgbClr val="1B2B26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" y="17007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 01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94944" y="2048256"/>
            <a:ext cx="512064" cy="512064"/>
          </a:xfrm>
          <a:prstGeom prst="ellipse">
            <a:avLst/>
          </a:prstGeom>
          <a:solidFill>
            <a:srgbClr val="EAF4EF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20482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4944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员工知识助手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4944" y="320040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绑定企业知识库，在企微 / 飞书里 @ 它即问即答；答案带原文引用，新员工上手快。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94944" y="500176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代表能力 · 知识检索 · 引用溯源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46704" y="1481328"/>
            <a:ext cx="2606040" cy="4069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  <a:effectLst>
            <a:outerShdw sx="100000" sy="100000" kx="0" ky="0" algn="bl" rotWithShape="0" blurRad="88900" dist="25400" dir="5400000">
              <a:srgbClr val="1B2B26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84448" y="17007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 02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84448" y="2048256"/>
            <a:ext cx="512064" cy="512064"/>
          </a:xfrm>
          <a:prstGeom prst="ellipse">
            <a:avLst/>
          </a:prstGeom>
          <a:solidFill>
            <a:srgbClr val="EAF4EF"/>
          </a:solidFill>
          <a:ln/>
        </p:spPr>
      </p:sp>
      <p:sp>
        <p:nvSpPr>
          <p:cNvPr id="15" name="Text 13"/>
          <p:cNvSpPr/>
          <p:nvPr/>
        </p:nvSpPr>
        <p:spPr>
          <a:xfrm>
            <a:off x="3584448" y="20482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84448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数据分析师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84448" y="320040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自然语言查数据库、分析 Excel；在沙箱里写代码跑数，直接给出结论与图表建议。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84448" y="500176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代表能力 · 只读 SQL · DuckDB · 沙箱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36208" y="1481328"/>
            <a:ext cx="2606040" cy="4069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  <a:effectLst>
            <a:outerShdw sx="100000" sy="100000" kx="0" ky="0" algn="bl" rotWithShape="0" blurRad="88900" dist="25400" dir="5400000">
              <a:srgbClr val="1B2B26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73952" y="17007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 03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73952" y="2048256"/>
            <a:ext cx="512064" cy="512064"/>
          </a:xfrm>
          <a:prstGeom prst="ellipse">
            <a:avLst/>
          </a:prstGeom>
          <a:solidFill>
            <a:srgbClr val="EAF4EF"/>
          </a:solidFill>
          <a:ln/>
        </p:spPr>
      </p:sp>
      <p:sp>
        <p:nvSpPr>
          <p:cNvPr id="22" name="Text 20"/>
          <p:cNvSpPr/>
          <p:nvPr/>
        </p:nvSpPr>
        <p:spPr>
          <a:xfrm>
            <a:off x="6473952" y="20482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维基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73952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Wiki 工程师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73952" y="320040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文档入库自动生成带知识图谱的 Wiki；发现过期、矛盾内容自动标记 issue。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73952" y="500176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代表能力 · 10 个 Wiki 工具 · 自动蒸馏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25712" y="1481328"/>
            <a:ext cx="2606040" cy="4069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  <a:effectLst>
            <a:outerShdw sx="100000" sy="100000" kx="0" ky="0" algn="bl" rotWithShape="0" blurRad="88900" dist="25400" dir="5400000">
              <a:srgbClr val="1B2B26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363456" y="17007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 04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363456" y="2048256"/>
            <a:ext cx="512064" cy="512064"/>
          </a:xfrm>
          <a:prstGeom prst="ellipse">
            <a:avLst/>
          </a:prstGeom>
          <a:solidFill>
            <a:srgbClr val="EAF4EF"/>
          </a:solidFill>
          <a:ln/>
        </p:spPr>
      </p:sp>
      <p:sp>
        <p:nvSpPr>
          <p:cNvPr id="29" name="Text 27"/>
          <p:cNvSpPr/>
          <p:nvPr/>
        </p:nvSpPr>
        <p:spPr>
          <a:xfrm>
            <a:off x="9363456" y="20482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363456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跨系统执行者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63456" y="320040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 MCP 连接 OA / CRM / 工单系统：查订单、提审批、开工单；高危操作人工确认。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363456" y="500176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代表能力 · MCP 工具 · 人工审批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每一个都是可配置的「自定义智能体」：选模型、绑知识库、设工具白名单，复制即得。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企业收益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智能体进入企业，带来四层收益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7×24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8072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效率提升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57200" y="3209544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多步任务自主执行，20 轮迭代 + 并行工具调用，人工只处理例外。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4972" y="1920240"/>
            <a:ext cx="0" cy="2651760"/>
          </a:xfrm>
          <a:prstGeom prst="line">
            <a:avLst/>
          </a:prstGeom>
          <a:noFill/>
          <a:ln w="9525">
            <a:solidFill>
              <a:srgbClr val="DFE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46704" y="17830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346704" y="28072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知识资产沉淀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346704" y="3209544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种文档格式自动入库成知识库，再由智能体蒸馏为带图谱的 Wiki。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94476" y="1920240"/>
            <a:ext cx="0" cy="2651760"/>
          </a:xfrm>
          <a:prstGeom prst="line">
            <a:avLst/>
          </a:prstGeom>
          <a:noFill/>
          <a:ln w="9525">
            <a:solidFill>
              <a:srgbClr val="DFE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7830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236208" y="28072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全渠道触达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236208" y="3209544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 IM 渠道一键绑定（企微 / 飞书 / 钉钉…），客户在哪服务在哪。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83980" y="1920240"/>
            <a:ext cx="0" cy="2651760"/>
          </a:xfrm>
          <a:prstGeom prst="line">
            <a:avLst/>
          </a:prstGeom>
          <a:noFill/>
          <a:ln w="9525">
            <a:solidFill>
              <a:srgbClr val="DFEA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25712" y="17830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20+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9125712" y="28072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自主可控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25712" y="3209544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家大模型可插拔（DeepSeek / 混元 / Qwen…），8 种向量库，可全私有化。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5440680"/>
            <a:ext cx="12188952" cy="868680"/>
          </a:xfrm>
          <a:prstGeom prst="rect">
            <a:avLst/>
          </a:prstGeom>
          <a:solidFill>
            <a:srgbClr val="EAF4E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5440680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本质：把组织里的「隐性知识」变成「随取随用的执行力」—— 知识不再只是存起来，而是动起来。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0292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注：数字为 WeKnora v0.8 平台内置能力统计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企业如何集成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四条接入路径，覆盖所有触点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5FAF8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700784"/>
            <a:ext cx="502920" cy="502920"/>
          </a:xfrm>
          <a:prstGeom prst="ellipse">
            <a:avLst/>
          </a:prstGeom>
          <a:solidFill>
            <a:srgbClr val="0E7A5A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700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94944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IM 渠道绑定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94944" y="283464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企微 / 飞书 / 钉钉 / Slack 等 10 个平台；智能体配置页直接绑定渠道，员工在聊天窗口 @ 它即用。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94944" y="47731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无需开发 · 配置即生效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46704" y="146304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5FAF8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84448" y="1700784"/>
            <a:ext cx="502920" cy="502920"/>
          </a:xfrm>
          <a:prstGeom prst="ellipse">
            <a:avLst/>
          </a:prstGeom>
          <a:solidFill>
            <a:srgbClr val="0E7A5A"/>
          </a:solidFill>
          <a:ln/>
        </p:spPr>
      </p:sp>
      <p:sp>
        <p:nvSpPr>
          <p:cNvPr id="13" name="Text 11"/>
          <p:cNvSpPr/>
          <p:nvPr/>
        </p:nvSpPr>
        <p:spPr>
          <a:xfrm>
            <a:off x="3584448" y="1700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84448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网页挂件 Embed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584448" y="283464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官网、帮助中心、内网门户嵌入对话窗口，匿名访客也能用；对外服务不打扰内部系统。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84448" y="47731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域名白名单 · 安全 token · 限流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36208" y="146304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5FAF8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73952" y="1700784"/>
            <a:ext cx="502920" cy="502920"/>
          </a:xfrm>
          <a:prstGeom prst="ellipse">
            <a:avLst/>
          </a:prstGeom>
          <a:solidFill>
            <a:srgbClr val="0E7A5A"/>
          </a:solidFill>
          <a:ln/>
        </p:spPr>
      </p:sp>
      <p:sp>
        <p:nvSpPr>
          <p:cNvPr id="19" name="Text 17"/>
          <p:cNvSpPr/>
          <p:nvPr/>
        </p:nvSpPr>
        <p:spPr>
          <a:xfrm>
            <a:off x="6473952" y="1700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73952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REST API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73952" y="283464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360 个端点覆盖全部平台能力；agent-chat 接口 SSE 流式输出思考与执行过程。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73952" y="47731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Scoped API Key 按能力授权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25712" y="146304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EAF4EF"/>
          </a:solidFill>
          <a:ln w="12700">
            <a:solidFill>
              <a:srgbClr val="BFDF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63456" y="1700784"/>
            <a:ext cx="502920" cy="502920"/>
          </a:xfrm>
          <a:prstGeom prst="ellipse">
            <a:avLst/>
          </a:prstGeom>
          <a:solidFill>
            <a:srgbClr val="0E7A5A"/>
          </a:solidFill>
          <a:ln/>
        </p:spPr>
      </p:sp>
      <p:sp>
        <p:nvSpPr>
          <p:cNvPr id="25" name="Text 23"/>
          <p:cNvSpPr/>
          <p:nvPr/>
        </p:nvSpPr>
        <p:spPr>
          <a:xfrm>
            <a:off x="9363456" y="1700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363456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 协议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363456" y="283464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官方包 tencent-weknora-mcp 一行命令接入，把 30+ 知识工具开放给外部智能体。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363456" y="47731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· Cursor 等可直接调用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5760720"/>
            <a:ext cx="12188952" cy="731520"/>
          </a:xfrm>
          <a:prstGeom prst="rect">
            <a:avLst/>
          </a:prstGeom>
          <a:solidFill>
            <a:srgbClr val="EAF4EF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576072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四条路径可同时启用 —— 对内 IM · 对外网页 · 系统间 API · 生态 MCP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企业如何集成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从零到一：五步上线第一个智能体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463040" y="3310128"/>
            <a:ext cx="8778240" cy="0"/>
          </a:xfrm>
          <a:prstGeom prst="line">
            <a:avLst/>
          </a:prstGeom>
          <a:noFill/>
          <a:ln w="31750">
            <a:solidFill>
              <a:srgbClr val="BFE0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72184" y="3044952"/>
            <a:ext cx="530352" cy="530352"/>
          </a:xfrm>
          <a:prstGeom prst="ellipse">
            <a:avLst/>
          </a:prstGeom>
          <a:solidFill>
            <a:srgbClr val="0E7A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72184" y="30449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2514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接入知识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种格式文档上传；飞书 / Notion / GitLab / 语雀 / RSS 自动同步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737360" y="3044952"/>
            <a:ext cx="0" cy="146304"/>
          </a:xfrm>
          <a:prstGeom prst="line">
            <a:avLst/>
          </a:prstGeom>
          <a:noFill/>
          <a:ln w="19050">
            <a:solidFill>
              <a:srgbClr val="BFE0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9584" y="3044952"/>
            <a:ext cx="530352" cy="530352"/>
          </a:xfrm>
          <a:prstGeom prst="ellipse">
            <a:avLst/>
          </a:prstGeom>
          <a:solidFill>
            <a:srgbClr val="0E7A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30449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37460" y="3703320"/>
            <a:ext cx="2514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配置智能体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选模型与温度，绑定知识库（全部 / 指定），设工具白名单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794760" y="3438144"/>
            <a:ext cx="0" cy="146304"/>
          </a:xfrm>
          <a:prstGeom prst="line">
            <a:avLst/>
          </a:prstGeom>
          <a:noFill/>
          <a:ln w="19050">
            <a:solidFill>
              <a:srgbClr val="BFE0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86984" y="3044952"/>
            <a:ext cx="530352" cy="530352"/>
          </a:xfrm>
          <a:prstGeom prst="ellipse">
            <a:avLst/>
          </a:prstGeom>
          <a:solidFill>
            <a:srgbClr val="0E7A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86984" y="30449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94860" y="1371600"/>
            <a:ext cx="2514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连接工具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注册 MCP 服务、安装技能、配沙箱；关键工具开启人工审批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852160" y="3044952"/>
            <a:ext cx="0" cy="146304"/>
          </a:xfrm>
          <a:prstGeom prst="line">
            <a:avLst/>
          </a:prstGeom>
          <a:noFill/>
          <a:ln w="19050">
            <a:solidFill>
              <a:srgbClr val="BFE0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44384" y="3044952"/>
            <a:ext cx="530352" cy="530352"/>
          </a:xfrm>
          <a:prstGeom prst="ellipse">
            <a:avLst/>
          </a:prstGeom>
          <a:solidFill>
            <a:srgbClr val="0E7A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44384" y="30449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52260" y="3703320"/>
            <a:ext cx="2514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上线渠道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绑定 IM、嵌入网页挂件，或直接对外开放 API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09560" y="3438144"/>
            <a:ext cx="0" cy="146304"/>
          </a:xfrm>
          <a:prstGeom prst="line">
            <a:avLst/>
          </a:prstGeom>
          <a:noFill/>
          <a:ln w="19050">
            <a:solidFill>
              <a:srgbClr val="BFE0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01784" y="3044952"/>
            <a:ext cx="530352" cy="530352"/>
          </a:xfrm>
          <a:prstGeom prst="ellipse">
            <a:avLst/>
          </a:prstGeom>
          <a:solidFill>
            <a:srgbClr val="0E7A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01784" y="30449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09660" y="1371600"/>
            <a:ext cx="2514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观测治理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Langfuse 追踪每轮思考与工具调用；审计日志，持续调优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966960" y="3044952"/>
            <a:ext cx="0" cy="146304"/>
          </a:xfrm>
          <a:prstGeom prst="line">
            <a:avLst/>
          </a:prstGeom>
          <a:noFill/>
          <a:ln w="19050">
            <a:solidFill>
              <a:srgbClr val="BFE0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5806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主要配置均可在管理界面完成，无需写代码；MCP 服务与技能同样界面化接入。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企业如何集成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安全与治理：敢把权限交给智能体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4754880" cy="4572000"/>
          </a:xfrm>
          <a:prstGeom prst="roundRect">
            <a:avLst>
              <a:gd name="adj" fmla="val 1800"/>
            </a:avLst>
          </a:prstGeom>
          <a:solidFill>
            <a:srgbClr val="0B292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把权限管到「工具级」，把执行留痕到「每一步」。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3F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WeKnora 的治理体系，让企业放心把系统权限交给智能体。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5394960"/>
            <a:ext cx="502920" cy="274320"/>
          </a:xfrm>
          <a:prstGeom prst="line">
            <a:avLst/>
          </a:prstGeom>
          <a:noFill/>
          <a:ln w="12700">
            <a:solidFill>
              <a:srgbClr val="1D6B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1417320" y="5349240"/>
            <a:ext cx="548640" cy="320040"/>
          </a:xfrm>
          <a:prstGeom prst="line">
            <a:avLst/>
          </a:prstGeom>
          <a:noFill/>
          <a:ln w="12700">
            <a:solidFill>
              <a:srgbClr val="1D6B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5074920"/>
            <a:ext cx="182880" cy="594360"/>
          </a:xfrm>
          <a:prstGeom prst="line">
            <a:avLst/>
          </a:prstGeom>
          <a:noFill/>
          <a:ln w="12700">
            <a:solidFill>
              <a:srgbClr val="1D6B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5321808"/>
            <a:ext cx="146304" cy="146304"/>
          </a:xfrm>
          <a:prstGeom prst="ellipse">
            <a:avLst/>
          </a:prstGeom>
          <a:solidFill>
            <a:srgbClr val="1FBF8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316736" y="5568696"/>
            <a:ext cx="201168" cy="201168"/>
          </a:xfrm>
          <a:prstGeom prst="ellipse">
            <a:avLst/>
          </a:prstGeom>
          <a:solidFill>
            <a:srgbClr val="1FBF8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892808" y="5276088"/>
            <a:ext cx="146304" cy="146304"/>
          </a:xfrm>
          <a:prstGeom prst="ellipse">
            <a:avLst/>
          </a:prstGeom>
          <a:solidFill>
            <a:srgbClr val="1FBF8F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79576" y="5020056"/>
            <a:ext cx="109728" cy="109728"/>
          </a:xfrm>
          <a:prstGeom prst="ellipse">
            <a:avLst/>
          </a:prstGeom>
          <a:solidFill>
            <a:srgbClr val="1FBF8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0" y="1600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AF4EF"/>
          </a:solidFill>
          <a:ln w="12700">
            <a:solidFill>
              <a:srgbClr val="0E7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44768" y="15727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精细权限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144768" y="19385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四级角色 viewer / contributor / admin / owner；成员级控制「谁可以使用哪个智能体」。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0" y="2542032"/>
            <a:ext cx="6016752" cy="0"/>
          </a:xfrm>
          <a:prstGeom prst="line">
            <a:avLst/>
          </a:prstGeom>
          <a:noFill/>
          <a:ln w="9525">
            <a:solidFill>
              <a:srgbClr val="DFEA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271576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AF4EF"/>
          </a:solidFill>
          <a:ln w="12700">
            <a:solidFill>
              <a:srgbClr val="0E7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44768" y="268833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人工审批（HITL）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144768" y="3054096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高危 MCP 工具执行前弹出确认，可修改参数后放行，默认等待 10 分钟。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0" y="3657600"/>
            <a:ext cx="6016752" cy="0"/>
          </a:xfrm>
          <a:prstGeom prst="line">
            <a:avLst/>
          </a:prstGeom>
          <a:noFill/>
          <a:ln w="9525">
            <a:solidFill>
              <a:srgbClr val="DFEA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0" y="38313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AF4EF"/>
          </a:solidFill>
          <a:ln w="12700">
            <a:solidFill>
              <a:srgbClr val="0E7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3831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44768" y="380390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凭据与传输安全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144768" y="4169664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OAuth 2.0 全流程；Token 以 AES-256-GCM 加密落库；网页抓取内置 SSRF 防护。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0" y="4773168"/>
            <a:ext cx="6016752" cy="0"/>
          </a:xfrm>
          <a:prstGeom prst="line">
            <a:avLst/>
          </a:prstGeom>
          <a:noFill/>
          <a:ln w="9525">
            <a:solidFill>
              <a:srgbClr val="DFEA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0" y="494690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AF4EF"/>
          </a:solidFill>
          <a:ln w="12700">
            <a:solidFill>
              <a:srgbClr val="0E7A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4946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44768" y="491947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全链路可观测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144768" y="528523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Langfuse 追踪每轮思考与工具调用；空间级审计日志；支持全私有化部署。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关系图与 MCP 中台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平台关系图：智能体如何连接一切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7818120" cy="987552"/>
          </a:xfrm>
          <a:prstGeom prst="roundRect">
            <a:avLst>
              <a:gd name="adj" fmla="val 5556"/>
            </a:avLst>
          </a:prstGeom>
          <a:solidFill>
            <a:srgbClr val="F5FAF8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68249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触达层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75688" y="1499616"/>
            <a:ext cx="80772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75688" y="1499616"/>
            <a:ext cx="80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企业微信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93136" y="1499616"/>
            <a:ext cx="54102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3136" y="1499616"/>
            <a:ext cx="5410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飞书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43884" y="1499616"/>
            <a:ext cx="54102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43884" y="1499616"/>
            <a:ext cx="5410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钉钉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4632" y="1499616"/>
            <a:ext cx="64770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4632" y="1499616"/>
            <a:ext cx="6477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Slack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075688" y="1901952"/>
            <a:ext cx="80772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75688" y="1901952"/>
            <a:ext cx="80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网页挂件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93136" y="1901952"/>
            <a:ext cx="839724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3136" y="1901952"/>
            <a:ext cx="8397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API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42588" y="1901952"/>
            <a:ext cx="973074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42588" y="1901952"/>
            <a:ext cx="9730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 客户端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2368296"/>
            <a:ext cx="0" cy="201168"/>
          </a:xfrm>
          <a:prstGeom prst="line">
            <a:avLst/>
          </a:prstGeom>
          <a:noFill/>
          <a:ln w="19050">
            <a:solidFill>
              <a:srgbClr val="0E7A5A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02920" y="2578608"/>
            <a:ext cx="7818120" cy="987552"/>
          </a:xfrm>
          <a:prstGeom prst="roundRect">
            <a:avLst>
              <a:gd name="adj" fmla="val 5556"/>
            </a:avLst>
          </a:prstGeom>
          <a:solidFill>
            <a:srgbClr val="0E7A5A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288950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075688" y="2706624"/>
            <a:ext cx="3037332" cy="347472"/>
          </a:xfrm>
          <a:prstGeom prst="roundRect">
            <a:avLst>
              <a:gd name="adj" fmla="val 18421"/>
            </a:avLst>
          </a:prstGeom>
          <a:solidFill>
            <a:srgbClr val="0D6B50"/>
          </a:solidFill>
          <a:ln w="12700">
            <a:solidFill>
              <a:srgbClr val="2E7A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75688" y="2706624"/>
            <a:ext cx="30373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ReAct 引擎：思考 → 分析 → 行动 → 观察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075688" y="3108960"/>
            <a:ext cx="1074420" cy="347472"/>
          </a:xfrm>
          <a:prstGeom prst="roundRect">
            <a:avLst>
              <a:gd name="adj" fmla="val 18421"/>
            </a:avLst>
          </a:prstGeom>
          <a:solidFill>
            <a:srgbClr val="0D6B50"/>
          </a:solidFill>
          <a:ln w="12700">
            <a:solidFill>
              <a:srgbClr val="2E7A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75688" y="3108960"/>
            <a:ext cx="10744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自定义智能体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59836" y="3108960"/>
            <a:ext cx="807720" cy="347472"/>
          </a:xfrm>
          <a:prstGeom prst="roundRect">
            <a:avLst>
              <a:gd name="adj" fmla="val 18421"/>
            </a:avLst>
          </a:prstGeom>
          <a:solidFill>
            <a:srgbClr val="0D6B50"/>
          </a:solidFill>
          <a:ln w="12700">
            <a:solidFill>
              <a:srgbClr val="2E7A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59836" y="3108960"/>
            <a:ext cx="80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长期记忆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77284" y="3108960"/>
            <a:ext cx="807720" cy="347472"/>
          </a:xfrm>
          <a:prstGeom prst="roundRect">
            <a:avLst>
              <a:gd name="adj" fmla="val 18421"/>
            </a:avLst>
          </a:prstGeom>
          <a:solidFill>
            <a:srgbClr val="0D6B50"/>
          </a:solidFill>
          <a:ln w="12700">
            <a:solidFill>
              <a:srgbClr val="2E7A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77284" y="3108960"/>
            <a:ext cx="80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任务规划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94732" y="3108960"/>
            <a:ext cx="674370" cy="347472"/>
          </a:xfrm>
          <a:prstGeom prst="roundRect">
            <a:avLst>
              <a:gd name="adj" fmla="val 18421"/>
            </a:avLst>
          </a:prstGeom>
          <a:solidFill>
            <a:srgbClr val="0D6B50"/>
          </a:solidFill>
          <a:ln w="12700">
            <a:solidFill>
              <a:srgbClr val="2E7A6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94732" y="3108960"/>
            <a:ext cx="6743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多模态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389120" y="3575304"/>
            <a:ext cx="0" cy="201168"/>
          </a:xfrm>
          <a:prstGeom prst="line">
            <a:avLst/>
          </a:prstGeom>
          <a:noFill/>
          <a:ln w="19050">
            <a:solidFill>
              <a:srgbClr val="0E7A5A"/>
            </a:solidFill>
            <a:prstDash val="solid"/>
            <a:headEnd type="triangl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02920" y="3785616"/>
            <a:ext cx="7818120" cy="987552"/>
          </a:xfrm>
          <a:prstGeom prst="roundRect">
            <a:avLst>
              <a:gd name="adj" fmla="val 5556"/>
            </a:avLst>
          </a:prstGeom>
          <a:solidFill>
            <a:srgbClr val="F5FAF8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" y="409651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能力层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075688" y="3913632"/>
            <a:ext cx="1106424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75688" y="3913632"/>
            <a:ext cx="1106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知识检索 RAG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91840" y="3913632"/>
            <a:ext cx="1106424" cy="347472"/>
          </a:xfrm>
          <a:prstGeom prst="roundRect">
            <a:avLst>
              <a:gd name="adj" fmla="val 18421"/>
            </a:avLst>
          </a:prstGeom>
          <a:solidFill>
            <a:srgbClr val="1FBF8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3913632"/>
            <a:ext cx="1106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 工具中台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07992" y="3913632"/>
            <a:ext cx="1031748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07992" y="3913632"/>
            <a:ext cx="10317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技能 + 沙箱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649468" y="3913632"/>
            <a:ext cx="80772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49468" y="3913632"/>
            <a:ext cx="80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联网搜索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566916" y="3913632"/>
            <a:ext cx="91440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66916" y="39136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Wiki 工程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389120" y="4782312"/>
            <a:ext cx="0" cy="201168"/>
          </a:xfrm>
          <a:prstGeom prst="line">
            <a:avLst/>
          </a:prstGeom>
          <a:noFill/>
          <a:ln w="19050">
            <a:solidFill>
              <a:srgbClr val="0E7A5A"/>
            </a:solidFill>
            <a:prstDash val="solid"/>
            <a:headEnd type="triangl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02920" y="4992624"/>
            <a:ext cx="7818120" cy="987552"/>
          </a:xfrm>
          <a:prstGeom prst="roundRect">
            <a:avLst>
              <a:gd name="adj" fmla="val 5556"/>
            </a:avLst>
          </a:prstGeom>
          <a:solidFill>
            <a:srgbClr val="F5FAF8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" y="53035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数据层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2075688" y="5120640"/>
            <a:ext cx="957072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75688" y="5120640"/>
            <a:ext cx="957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种向量库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142488" y="5120640"/>
            <a:ext cx="1165098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42488" y="5120640"/>
            <a:ext cx="11650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种文档格式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417314" y="5120640"/>
            <a:ext cx="80772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17314" y="5120640"/>
            <a:ext cx="80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对象存储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334762" y="5120640"/>
            <a:ext cx="1618488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34762" y="5120640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PostgreSQL / Redis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062978" y="5120640"/>
            <a:ext cx="80772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62978" y="5120640"/>
            <a:ext cx="80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知识图谱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8549640" y="1371600"/>
            <a:ext cx="3136392" cy="4608576"/>
          </a:xfrm>
          <a:prstGeom prst="roundRect">
            <a:avLst>
              <a:gd name="adj" fmla="val 2332"/>
            </a:avLst>
          </a:prstGeom>
          <a:solidFill>
            <a:srgbClr val="0B2924"/>
          </a:solidFill>
          <a:ln/>
        </p:spPr>
      </p:sp>
      <p:sp>
        <p:nvSpPr>
          <p:cNvPr id="61" name="Text 59"/>
          <p:cNvSpPr/>
          <p:nvPr/>
        </p:nvSpPr>
        <p:spPr>
          <a:xfrm>
            <a:off x="8851392" y="16093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全程治理</a:t>
            </a:r>
            <a:endParaRPr lang="en-US" sz="1550" dirty="0"/>
          </a:p>
        </p:txBody>
      </p:sp>
      <p:sp>
        <p:nvSpPr>
          <p:cNvPr id="62" name="Text 60"/>
          <p:cNvSpPr/>
          <p:nvPr/>
        </p:nvSpPr>
        <p:spPr>
          <a:xfrm>
            <a:off x="8851392" y="19568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1FBF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贯穿每一层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8851392" y="2514600"/>
            <a:ext cx="82296" cy="82296"/>
          </a:xfrm>
          <a:prstGeom prst="ellipse">
            <a:avLst/>
          </a:prstGeom>
          <a:solidFill>
            <a:srgbClr val="1FBF8F"/>
          </a:solidFill>
          <a:ln/>
        </p:spPr>
      </p:sp>
      <p:sp>
        <p:nvSpPr>
          <p:cNvPr id="64" name="Text 62"/>
          <p:cNvSpPr/>
          <p:nvPr/>
        </p:nvSpPr>
        <p:spPr>
          <a:xfrm>
            <a:off x="9052560" y="24505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F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四级角色 RBAC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8851392" y="3063240"/>
            <a:ext cx="82296" cy="82296"/>
          </a:xfrm>
          <a:prstGeom prst="ellipse">
            <a:avLst/>
          </a:prstGeom>
          <a:solidFill>
            <a:srgbClr val="1FBF8F"/>
          </a:solidFill>
          <a:ln/>
        </p:spPr>
      </p:sp>
      <p:sp>
        <p:nvSpPr>
          <p:cNvPr id="66" name="Text 64"/>
          <p:cNvSpPr/>
          <p:nvPr/>
        </p:nvSpPr>
        <p:spPr>
          <a:xfrm>
            <a:off x="9052560" y="299923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F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成员级智能体访问控制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8851392" y="3611880"/>
            <a:ext cx="82296" cy="82296"/>
          </a:xfrm>
          <a:prstGeom prst="ellipse">
            <a:avLst/>
          </a:prstGeom>
          <a:solidFill>
            <a:srgbClr val="1FBF8F"/>
          </a:solidFill>
          <a:ln/>
        </p:spPr>
      </p:sp>
      <p:sp>
        <p:nvSpPr>
          <p:cNvPr id="68" name="Text 66"/>
          <p:cNvSpPr/>
          <p:nvPr/>
        </p:nvSpPr>
        <p:spPr>
          <a:xfrm>
            <a:off x="9052560" y="35478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F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工具级人工审批 HITL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8851392" y="4160520"/>
            <a:ext cx="82296" cy="82296"/>
          </a:xfrm>
          <a:prstGeom prst="ellipse">
            <a:avLst/>
          </a:prstGeom>
          <a:solidFill>
            <a:srgbClr val="1FBF8F"/>
          </a:solidFill>
          <a:ln/>
        </p:spPr>
      </p:sp>
      <p:sp>
        <p:nvSpPr>
          <p:cNvPr id="70" name="Text 68"/>
          <p:cNvSpPr/>
          <p:nvPr/>
        </p:nvSpPr>
        <p:spPr>
          <a:xfrm>
            <a:off x="9052560" y="409651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F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OAuth 2.0 · 凭据加密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8851392" y="4709160"/>
            <a:ext cx="82296" cy="82296"/>
          </a:xfrm>
          <a:prstGeom prst="ellipse">
            <a:avLst/>
          </a:prstGeom>
          <a:solidFill>
            <a:srgbClr val="1FBF8F"/>
          </a:solidFill>
          <a:ln/>
        </p:spPr>
      </p:sp>
      <p:sp>
        <p:nvSpPr>
          <p:cNvPr id="72" name="Text 70"/>
          <p:cNvSpPr/>
          <p:nvPr/>
        </p:nvSpPr>
        <p:spPr>
          <a:xfrm>
            <a:off x="9052560" y="464515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F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审计日志 · Langfuse 追踪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8851392" y="5257800"/>
            <a:ext cx="82296" cy="82296"/>
          </a:xfrm>
          <a:prstGeom prst="ellipse">
            <a:avLst/>
          </a:prstGeom>
          <a:solidFill>
            <a:srgbClr val="1FBF8F"/>
          </a:solidFill>
          <a:ln/>
        </p:spPr>
      </p:sp>
      <p:sp>
        <p:nvSpPr>
          <p:cNvPr id="74" name="Text 72"/>
          <p:cNvSpPr/>
          <p:nvPr/>
        </p:nvSpPr>
        <p:spPr>
          <a:xfrm>
            <a:off x="9052560" y="51937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F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私有化部署 · 数据不出域</a:t>
            </a:r>
            <a:endParaRPr lang="en-US" sz="1150" dirty="0"/>
          </a:p>
        </p:txBody>
      </p:sp>
      <p:sp>
        <p:nvSpPr>
          <p:cNvPr id="75" name="Text 73"/>
          <p:cNvSpPr/>
          <p:nvPr/>
        </p:nvSpPr>
        <p:spPr>
          <a:xfrm>
            <a:off x="502920" y="614476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关系图：渠道触达 → 智能体引擎 → 能力组件 → 数据底座，治理能力贯穿全链路。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关系图与 MCP 中台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MCP：智能体世界的「USB-C」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MCP（Model Context Protocol）是为智能体连接工具与数据源而生的开放协议 —— 相当于智能体世界的「USB-C」。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3081528"/>
            <a:ext cx="91440" cy="91440"/>
          </a:xfrm>
          <a:prstGeom prst="ellipse">
            <a:avLst/>
          </a:prstGeom>
          <a:solidFill>
            <a:srgbClr val="0E7A5A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30175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统一接入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33558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一个协议接入所有工具，不必为每个系统单独写适配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4041648"/>
            <a:ext cx="91440" cy="91440"/>
          </a:xfrm>
          <a:prstGeom prst="ellipse">
            <a:avLst/>
          </a:prstGeom>
          <a:solidFill>
            <a:srgbClr val="0E7A5A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397764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双向流通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8952" y="43159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既能调用别人的工具，也能把自己的能力开放出去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5001768"/>
            <a:ext cx="91440" cy="91440"/>
          </a:xfrm>
          <a:prstGeom prst="ellipse">
            <a:avLst/>
          </a:prstGeom>
          <a:solidFill>
            <a:srgbClr val="0E7A5A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49377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生态复用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8952" y="52760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/ Cursor 等主流客户端原生支持，工具一次开发处处可用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1463040"/>
            <a:ext cx="5029200" cy="868680"/>
          </a:xfrm>
          <a:prstGeom prst="roundRect">
            <a:avLst>
              <a:gd name="adj" fmla="val 7368"/>
            </a:avLst>
          </a:prstGeom>
          <a:solidFill>
            <a:srgbClr val="F5FAF8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59105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 MCP 工具服务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55080" y="19202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OA · CRM · 数据库 · 搜索引擎 · 内部 API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635240" y="288036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0E7A5A"/>
          </a:solidFill>
          <a:ln/>
        </p:spPr>
      </p:sp>
      <p:sp>
        <p:nvSpPr>
          <p:cNvPr id="19" name="Text 17"/>
          <p:cNvSpPr/>
          <p:nvPr/>
        </p:nvSpPr>
        <p:spPr>
          <a:xfrm>
            <a:off x="7635240" y="3035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WeKnora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35240" y="34198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3F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 + 知识底座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4892040"/>
            <a:ext cx="5029200" cy="868680"/>
          </a:xfrm>
          <a:prstGeom prst="roundRect">
            <a:avLst>
              <a:gd name="adj" fmla="val 7368"/>
            </a:avLst>
          </a:prstGeom>
          <a:solidFill>
            <a:srgbClr val="F5FAF8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502005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· Cursor · 企业自建智能体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55080" y="53492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任意 MCP 客户端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686800" y="2331720"/>
            <a:ext cx="0" cy="548640"/>
          </a:xfrm>
          <a:prstGeom prst="line">
            <a:avLst/>
          </a:prstGeom>
          <a:noFill/>
          <a:ln w="22225">
            <a:solidFill>
              <a:srgbClr val="0E7A5A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8887968" y="2450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作为客户端 · 智能体调用外部工具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686800" y="3840480"/>
            <a:ext cx="0" cy="1051560"/>
          </a:xfrm>
          <a:prstGeom prst="line">
            <a:avLst/>
          </a:prstGeom>
          <a:noFill/>
          <a:ln w="22225">
            <a:solidFill>
              <a:srgbClr val="0E7A5A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887968" y="4224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作为服务端 · 开放 30+ 知识工具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关系图与 MCP 中台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 中台：平台统一供工具，空间即开即用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1228832" cy="868680"/>
          </a:xfrm>
          <a:prstGeom prst="roundRect">
            <a:avLst>
              <a:gd name="adj" fmla="val 7368"/>
            </a:avLst>
          </a:prstGeom>
          <a:solidFill>
            <a:srgbClr val="F5FAF8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276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外部工具生态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68880" y="1618488"/>
            <a:ext cx="788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618488"/>
            <a:ext cx="78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 OA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5312" y="1618488"/>
            <a:ext cx="102311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5312" y="1618488"/>
            <a:ext cx="102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CRM · 工单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36440" y="1618488"/>
            <a:ext cx="69342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6440" y="1618488"/>
            <a:ext cx="6934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57876" y="1618488"/>
            <a:ext cx="83312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57876" y="1618488"/>
            <a:ext cx="8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搜索引擎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19012" y="1618488"/>
            <a:ext cx="122428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9012" y="1618488"/>
            <a:ext cx="122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 API 网关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51760"/>
            <a:ext cx="11228832" cy="2103120"/>
          </a:xfrm>
          <a:prstGeom prst="roundRect">
            <a:avLst>
              <a:gd name="adj" fmla="val 3913"/>
            </a:avLst>
          </a:prstGeom>
          <a:solidFill>
            <a:srgbClr val="0E7A5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816352"/>
            <a:ext cx="11228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WeKnora MCP 中台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02920" y="3200400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F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平台统一供给工具能力，所有空间即开即用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3611880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0D6B5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611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统一接入 · SSE / HTTP Streamable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16552" y="3611880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0D6B50"/>
          </a:solidFill>
          <a:ln/>
        </p:spPr>
      </p:sp>
      <p:sp>
        <p:nvSpPr>
          <p:cNvPr id="23" name="Text 21"/>
          <p:cNvSpPr/>
          <p:nvPr/>
        </p:nvSpPr>
        <p:spPr>
          <a:xfrm>
            <a:off x="4416552" y="3611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认证中心 · APIKey / Bearer / OAuth 2.0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55864" y="3611880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0D6B50"/>
          </a:solidFill>
          <a:ln/>
        </p:spPr>
      </p:sp>
      <p:sp>
        <p:nvSpPr>
          <p:cNvPr id="25" name="Text 23"/>
          <p:cNvSpPr/>
          <p:nvPr/>
        </p:nvSpPr>
        <p:spPr>
          <a:xfrm>
            <a:off x="8055864" y="3611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权限与审批 · 工具级 HITL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87752" y="4160520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0D6B50"/>
          </a:solidFill>
          <a:ln/>
        </p:spPr>
      </p:sp>
      <p:sp>
        <p:nvSpPr>
          <p:cNvPr id="27" name="Text 25"/>
          <p:cNvSpPr/>
          <p:nvPr/>
        </p:nvSpPr>
        <p:spPr>
          <a:xfrm>
            <a:off x="2587752" y="4160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凭据安全 · AES-256-GCM 加密落库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27064" y="4160520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0D6B50"/>
          </a:solidFill>
          <a:ln/>
        </p:spPr>
      </p:sp>
      <p:sp>
        <p:nvSpPr>
          <p:cNvPr id="29" name="Text 27"/>
          <p:cNvSpPr/>
          <p:nvPr/>
        </p:nvSpPr>
        <p:spPr>
          <a:xfrm>
            <a:off x="6227064" y="4160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连接管理 · 复用 / 空闲清理 / 失效自愈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5166360"/>
            <a:ext cx="11228832" cy="868680"/>
          </a:xfrm>
          <a:prstGeom prst="roundRect">
            <a:avLst>
              <a:gd name="adj" fmla="val 7368"/>
            </a:avLst>
          </a:prstGeom>
          <a:solidFill>
            <a:srgbClr val="F5FAF8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42239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消费方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468880" y="5413248"/>
            <a:ext cx="12075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0" y="5413248"/>
            <a:ext cx="1207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空间 A 智能体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804412" y="5413248"/>
            <a:ext cx="12075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04412" y="5413248"/>
            <a:ext cx="1207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空间 B 智能体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139944" y="5413248"/>
            <a:ext cx="83312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39944" y="5413248"/>
            <a:ext cx="83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共享空间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01080" y="5413248"/>
            <a:ext cx="14478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01080" y="5413248"/>
            <a:ext cx="144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· Cursor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676896" y="5413248"/>
            <a:ext cx="130251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76896" y="5413248"/>
            <a:ext cx="1302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B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企业自建 Agent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017520" y="2258568"/>
            <a:ext cx="0" cy="365760"/>
          </a:xfrm>
          <a:prstGeom prst="line">
            <a:avLst/>
          </a:prstGeom>
          <a:noFill/>
          <a:ln w="19050">
            <a:solidFill>
              <a:srgbClr val="0E7A5A"/>
            </a:solidFill>
            <a:prstDash val="solid"/>
            <a:headEnd type="triangl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017520" y="4773168"/>
            <a:ext cx="0" cy="365760"/>
          </a:xfrm>
          <a:prstGeom prst="line">
            <a:avLst/>
          </a:prstGeom>
          <a:noFill/>
          <a:ln w="19050">
            <a:solidFill>
              <a:srgbClr val="0E7A5A"/>
            </a:solidFill>
            <a:prstDash val="solid"/>
            <a:headEnd type="triangl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235440" y="2258568"/>
            <a:ext cx="0" cy="365760"/>
          </a:xfrm>
          <a:prstGeom prst="line">
            <a:avLst/>
          </a:prstGeom>
          <a:noFill/>
          <a:ln w="19050">
            <a:solidFill>
              <a:srgbClr val="0E7A5A"/>
            </a:solidFill>
            <a:prstDash val="solid"/>
            <a:headEnd type="triangl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235440" y="4773168"/>
            <a:ext cx="0" cy="365760"/>
          </a:xfrm>
          <a:prstGeom prst="line">
            <a:avLst/>
          </a:prstGeom>
          <a:noFill/>
          <a:ln w="19050">
            <a:solidFill>
              <a:srgbClr val="0E7A5A"/>
            </a:solidFill>
            <a:prstDash val="solid"/>
            <a:headEnd type="triangle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502920" y="6236208"/>
            <a:ext cx="11228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内置 MCP 服务 = 中台模式：平台一次配置 → 全空间可见，敏感信息自动隐藏，新工具全员即用。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9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5394960"/>
            <a:ext cx="731520" cy="365760"/>
          </a:xfrm>
          <a:prstGeom prst="line">
            <a:avLst/>
          </a:prstGeom>
          <a:noFill/>
          <a:ln w="12700">
            <a:solidFill>
              <a:srgbClr val="1D6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11155680" y="5120640"/>
            <a:ext cx="502920" cy="640080"/>
          </a:xfrm>
          <a:prstGeom prst="line">
            <a:avLst/>
          </a:prstGeom>
          <a:noFill/>
          <a:ln w="12700">
            <a:solidFill>
              <a:srgbClr val="1D6B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784080" y="5760720"/>
            <a:ext cx="1371600" cy="182880"/>
          </a:xfrm>
          <a:prstGeom prst="line">
            <a:avLst/>
          </a:prstGeom>
          <a:noFill/>
          <a:ln w="12700">
            <a:solidFill>
              <a:srgbClr val="1D6B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41864" y="5312664"/>
            <a:ext cx="164592" cy="164592"/>
          </a:xfrm>
          <a:prstGeom prst="ellipse">
            <a:avLst/>
          </a:prstGeom>
          <a:solidFill>
            <a:srgbClr val="1FBF8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036808" y="5641848"/>
            <a:ext cx="237744" cy="237744"/>
          </a:xfrm>
          <a:prstGeom prst="ellipse">
            <a:avLst/>
          </a:prstGeom>
          <a:solidFill>
            <a:srgbClr val="1FBF8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576304" y="5038344"/>
            <a:ext cx="164592" cy="164592"/>
          </a:xfrm>
          <a:prstGeom prst="ellipse">
            <a:avLst/>
          </a:prstGeom>
          <a:solidFill>
            <a:srgbClr val="1FBF8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720072" y="5879592"/>
            <a:ext cx="128016" cy="128016"/>
          </a:xfrm>
          <a:prstGeom prst="ellipse">
            <a:avLst/>
          </a:prstGeom>
          <a:solidFill>
            <a:srgbClr val="1FBF8F">
              <a:alpha val="4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3444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智能体不是更会聊天的机器人，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而是能调用你全部系统的「数字员工」。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10698480" cy="0"/>
          </a:xfrm>
          <a:prstGeom prst="line">
            <a:avLst/>
          </a:prstGeom>
          <a:noFill/>
          <a:ln w="9525">
            <a:solidFill>
              <a:srgbClr val="1E6B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566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BF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31520" y="4224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F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内置工具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29000" y="3566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BF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429000" y="4224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F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 开放工具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26480" y="3566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BF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26480" y="4224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F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 IM 渠道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823960" y="3566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BF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823960" y="4224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F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大模型可插拔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50292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3F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开源（MIT）· 私有化部署 · Docker / K8s 一键上线 —— 从一个知识库 + 一个智能体开始。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WeKnora · weknora.weixin.qq.com · 2026.09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智能体 · 企业智能体平台介绍</dc:title>
  <dc:subject>PptxGenJS Presentation</dc:subject>
  <dc:creator>WeKnora</dc:creator>
  <cp:lastModifiedBy>WeKnora</cp:lastModifiedBy>
  <cp:revision>1</cp:revision>
  <dcterms:created xsi:type="dcterms:W3CDTF">2026-09-05T07:20:58Z</dcterms:created>
  <dcterms:modified xsi:type="dcterms:W3CDTF">2026-09-05T07:20:58Z</dcterms:modified>
</cp:coreProperties>
</file>